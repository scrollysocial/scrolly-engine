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the common mistake in both glass panes (use the same photo twice).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Swap in a photo of your product for the open doorway.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The trick: a photo of the common mistake. Name it on the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The treat: swap in your product photo and say what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The proof: a photo of the result or a happy customer. Edit the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Type your keyword and your offer.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10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Relationship Id="rId4" Type="http://schemas.openxmlformats.org/officeDocument/2006/relationships/image" Target="../media/image21.png"/><Relationship Id="rId5" Type="http://schemas.openxmlformats.org/officeDocument/2006/relationships/image" Target="../media/image15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The trick (left pane)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0"/>
            <a:ext cx="2286000" cy="9144000"/>
          </a:xfrm>
          <a:prstGeom prst="rect">
            <a:avLst/>
          </a:prstGeom>
        </p:spPr>
      </p:pic>
      <p:pic>
        <p:nvPicPr>
          <p:cNvPr id="4" name="PHOTO: The trick (right pane)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0" y="0"/>
            <a:ext cx="2286000" cy="9144000"/>
          </a:xfrm>
          <a:prstGeom prst="rect">
            <a:avLst/>
          </a:prstGeom>
        </p:spPr>
      </p:pic>
      <p:pic>
        <p:nvPicPr>
          <p:cNvPr id="5" name="burst" descr="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0" y="6486525"/>
            <a:ext cx="2857500" cy="2647950"/>
          </a:xfrm>
          <a:prstGeom prst="rect">
            <a:avLst/>
          </a:prstGeom>
        </p:spPr>
      </p:pic>
      <p:pic>
        <p:nvPicPr>
          <p:cNvPr id="6" name="TRICK" descr="0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-119062" y="7729538"/>
            <a:ext cx="10525125" cy="5114925"/>
          </a:xfrm>
          <a:prstGeom prst="rect">
            <a:avLst/>
          </a:prstGeom>
        </p:spPr>
      </p:pic>
      <p:pic>
        <p:nvPicPr>
          <p:cNvPr id="7" name="or TREAT?" descr="0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80000">
            <a:off x="804862" y="10668000"/>
            <a:ext cx="8677275" cy="2857500"/>
          </a:xfrm>
          <a:prstGeom prst="rect">
            <a:avLst/>
          </a:prstGeom>
        </p:spPr>
      </p:pic>
      <p:sp>
        <p:nvSpPr>
          <p:cNvPr id="8" name="GUIDE (delete)"/>
          <p:cNvSpPr/>
          <p:nvPr/>
        </p:nvSpPr>
        <p:spPr>
          <a:xfrm>
            <a:off x="1352550" y="13206412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Your product (in the doorway)" descr="0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992" y="3341630"/>
            <a:ext cx="3057525" cy="5133975"/>
          </a:xfrm>
          <a:prstGeom prst="round2SameRect">
            <a:avLst>
              <a:gd name="adj1" fmla="val 50000"/>
            </a:avLst>
          </a:prstGeom>
        </p:spPr>
      </p:pic>
      <p:pic>
        <p:nvPicPr>
          <p:cNvPr id="4" name="candy" descr="0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0" y="5857875"/>
            <a:ext cx="3162300" cy="2762250"/>
          </a:xfrm>
          <a:prstGeom prst="rect">
            <a:avLst/>
          </a:prstGeom>
        </p:spPr>
      </p:pic>
      <p:pic>
        <p:nvPicPr>
          <p:cNvPr id="5" name="candy" descr="0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0375" y="4781550"/>
            <a:ext cx="3524250" cy="3771900"/>
          </a:xfrm>
          <a:prstGeom prst="rect">
            <a:avLst/>
          </a:prstGeom>
        </p:spPr>
      </p:pic>
      <p:pic>
        <p:nvPicPr>
          <p:cNvPr id="6" name="candy" descr="0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47675" y="8591550"/>
            <a:ext cx="5276850" cy="4724400"/>
          </a:xfrm>
          <a:prstGeom prst="rect">
            <a:avLst/>
          </a:prstGeom>
        </p:spPr>
      </p:pic>
      <p:pic>
        <p:nvPicPr>
          <p:cNvPr id="7" name="candy" descr="0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8500" y="9701212"/>
            <a:ext cx="2667000" cy="3076575"/>
          </a:xfrm>
          <a:prstGeom prst="rect">
            <a:avLst/>
          </a:prstGeom>
        </p:spPr>
      </p:pic>
      <p:pic>
        <p:nvPicPr>
          <p:cNvPr id="8" name="candy" descr="01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150" y="10868025"/>
            <a:ext cx="2171700" cy="3028950"/>
          </a:xfrm>
          <a:prstGeom prst="rect">
            <a:avLst/>
          </a:prstGeom>
        </p:spPr>
      </p:pic>
      <p:sp>
        <p:nvSpPr>
          <p:cNvPr id="9" name="TEXT: [something sweet is coming]"/>
          <p:cNvSpPr/>
          <p:nvPr/>
        </p:nvSpPr>
        <p:spPr>
          <a:xfrm rot="120000">
            <a:off x="2157412" y="885825"/>
            <a:ext cx="7496175" cy="2038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13360" rIns="213360" tIns="91440" bIns="91440"/>
          <a:lstStyle/>
          <a:p>
            <a:pPr algn="r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[something sweet</a:t>
            </a:r>
          </a:p>
          <a:p>
            <a:pPr algn="r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is coming]</a:t>
            </a:r>
          </a:p>
        </p:txBody>
      </p:sp>
      <p:sp>
        <p:nvSpPr>
          <p:cNvPr id="10" name="TEXT: [trick first]"/>
          <p:cNvSpPr/>
          <p:nvPr/>
        </p:nvSpPr>
        <p:spPr>
          <a:xfrm rot="120000">
            <a:off x="957262" y="12525375"/>
            <a:ext cx="360997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[trick first]</a:t>
            </a:r>
          </a:p>
        </p:txBody>
      </p:sp>
      <p:pic>
        <p:nvPicPr>
          <p:cNvPr id="11" name="arrow" descr="01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20000">
            <a:off x="5000625" y="12396788"/>
            <a:ext cx="2571750" cy="9239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The trick (fills the page)" descr="0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TEXT: the trick:"/>
          <p:cNvSpPr/>
          <p:nvPr/>
        </p:nvSpPr>
        <p:spPr>
          <a:xfrm rot="180000">
            <a:off x="1076325" y="1595438"/>
            <a:ext cx="356235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the trick:</a:t>
            </a:r>
          </a:p>
        </p:txBody>
      </p:sp>
      <p:pic>
        <p:nvPicPr>
          <p:cNvPr id="5" name="sticky note" descr="0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00000">
            <a:off x="4210050" y="7096125"/>
            <a:ext cx="4914900" cy="4857750"/>
          </a:xfrm>
          <a:prstGeom prst="rect">
            <a:avLst/>
          </a:prstGeom>
        </p:spPr>
      </p:pic>
      <p:sp>
        <p:nvSpPr>
          <p:cNvPr id="6" name="TEXT: [cheap sponges]"/>
          <p:cNvSpPr/>
          <p:nvPr/>
        </p:nvSpPr>
        <p:spPr>
          <a:xfrm rot="21300000">
            <a:off x="5135067" y="9019088"/>
            <a:ext cx="3114675" cy="1581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[cheap</a:t>
            </a:r>
          </a:p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sponges]</a:t>
            </a:r>
          </a:p>
        </p:txBody>
      </p:sp>
      <p:pic>
        <p:nvPicPr>
          <p:cNvPr id="7" name="cross" descr="0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7803912" y="6830388"/>
            <a:ext cx="1809750" cy="17811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1238250" y="2571750"/>
            <a:ext cx="7810500" cy="9334500"/>
          </a:xfrm>
          <a:prstGeom prst="rect">
            <a:avLst/>
          </a:prstGeom>
        </p:spPr>
      </p:pic>
      <p:pic>
        <p:nvPicPr>
          <p:cNvPr id="4" name="PHOTO: The treat: your product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809750" y="3143250"/>
            <a:ext cx="6667500" cy="8191500"/>
          </a:xfrm>
          <a:prstGeom prst="rect">
            <a:avLst/>
          </a:prstGeom>
        </p:spPr>
      </p:pic>
      <p:pic>
        <p:nvPicPr>
          <p:cNvPr id="5" name="TREAT" descr="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333375" y="-57150"/>
            <a:ext cx="9620250" cy="4495800"/>
          </a:xfrm>
          <a:prstGeom prst="rect">
            <a:avLst/>
          </a:prstGeom>
        </p:spPr>
      </p:pic>
      <p:pic>
        <p:nvPicPr>
          <p:cNvPr id="6" name="candy" descr="0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4575" y="2971800"/>
            <a:ext cx="5276850" cy="4724400"/>
          </a:xfrm>
          <a:prstGeom prst="rect">
            <a:avLst/>
          </a:prstGeom>
        </p:spPr>
      </p:pic>
      <p:pic>
        <p:nvPicPr>
          <p:cNvPr id="7" name="heart" descr="0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480000">
            <a:off x="285750" y="8615362"/>
            <a:ext cx="2857500" cy="2771775"/>
          </a:xfrm>
          <a:prstGeom prst="rect">
            <a:avLst/>
          </a:prstGeom>
        </p:spPr>
      </p:pic>
      <p:sp>
        <p:nvSpPr>
          <p:cNvPr id="8" name="TEXT: [our 5-minute scrub]"/>
          <p:cNvSpPr/>
          <p:nvPr/>
        </p:nvSpPr>
        <p:spPr>
          <a:xfrm rot="21480000">
            <a:off x="1281112" y="11787188"/>
            <a:ext cx="7724775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[our 5-minute scrub]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The proof (fills the page)" descr="0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doorbell camera" descr="0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5750"/>
            <a:ext cx="10287000" cy="1143000"/>
          </a:xfrm>
          <a:prstGeom prst="rect">
            <a:avLst/>
          </a:prstGeom>
        </p:spPr>
      </p:pic>
      <p:sp>
        <p:nvSpPr>
          <p:cNvPr id="5" name="TEXT: the proof:"/>
          <p:cNvSpPr/>
          <p:nvPr/>
        </p:nvSpPr>
        <p:spPr>
          <a:xfrm rot="180000">
            <a:off x="938212" y="1976438"/>
            <a:ext cx="3838575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the proof:</a:t>
            </a:r>
          </a:p>
        </p:txBody>
      </p:sp>
      <p:pic>
        <p:nvPicPr>
          <p:cNvPr id="6" name="sticky note" descr="0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4400550" y="7381875"/>
            <a:ext cx="4914900" cy="4857750"/>
          </a:xfrm>
          <a:prstGeom prst="rect">
            <a:avLst/>
          </a:prstGeom>
        </p:spPr>
      </p:pic>
      <p:sp>
        <p:nvSpPr>
          <p:cNvPr id="7" name="TEXT: [5-star reviews]"/>
          <p:cNvSpPr/>
          <p:nvPr/>
        </p:nvSpPr>
        <p:spPr>
          <a:xfrm rot="240000">
            <a:off x="5318830" y="9281416"/>
            <a:ext cx="3038475" cy="16287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0688" rIns="170688" tIns="73152" bIns="73152"/>
          <a:lstStyle/>
          <a:p>
            <a:pPr algn="ctr">
              <a:lnSpc>
                <a:spcPts val="5856"/>
              </a:lnSpc>
            </a:pPr>
            <a:r>
              <a:rPr b="1" sz="4800">
                <a:solidFill>
                  <a:srgbClr val="181716"/>
                </a:solidFill>
                <a:latin typeface="Montserrat"/>
              </a:rPr>
              <a:t>[5-star</a:t>
            </a:r>
          </a:p>
          <a:p>
            <a:pPr algn="ctr">
              <a:lnSpc>
                <a:spcPts val="5856"/>
              </a:lnSpc>
            </a:pPr>
            <a:r>
              <a:rPr b="1" sz="4800">
                <a:solidFill>
                  <a:srgbClr val="181716"/>
                </a:solidFill>
                <a:latin typeface="Montserrat"/>
              </a:rPr>
              <a:t>reviews]</a:t>
            </a:r>
          </a:p>
        </p:txBody>
      </p:sp>
      <p:pic>
        <p:nvPicPr>
          <p:cNvPr id="8" name="arrow" descr="0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000000">
            <a:off x="2714625" y="9444038"/>
            <a:ext cx="2571750" cy="9239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candy" descr="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7150" y="9858375"/>
            <a:ext cx="3162300" cy="2762250"/>
          </a:xfrm>
          <a:prstGeom prst="rect">
            <a:avLst/>
          </a:prstGeom>
        </p:spPr>
      </p:pic>
      <p:pic>
        <p:nvPicPr>
          <p:cNvPr id="4" name="candy" descr="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8375" y="10496550"/>
            <a:ext cx="3524250" cy="3771900"/>
          </a:xfrm>
          <a:prstGeom prst="rect">
            <a:avLst/>
          </a:prstGeom>
        </p:spPr>
      </p:pic>
      <p:pic>
        <p:nvPicPr>
          <p:cNvPr id="5" name="candy" descr="0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8575" y="9258300"/>
            <a:ext cx="5276850" cy="4724400"/>
          </a:xfrm>
          <a:prstGeom prst="rect">
            <a:avLst/>
          </a:prstGeom>
        </p:spPr>
      </p:pic>
      <p:pic>
        <p:nvPicPr>
          <p:cNvPr id="6" name="candy" descr="0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50" y="11034712"/>
            <a:ext cx="2667000" cy="3076575"/>
          </a:xfrm>
          <a:prstGeom prst="rect">
            <a:avLst/>
          </a:prstGeom>
        </p:spPr>
      </p:pic>
      <p:pic>
        <p:nvPicPr>
          <p:cNvPr id="7" name="candy" descr="01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1650" y="8486775"/>
            <a:ext cx="2171700" cy="3028950"/>
          </a:xfrm>
          <a:prstGeom prst="rect">
            <a:avLst/>
          </a:prstGeom>
        </p:spPr>
      </p:pic>
      <p:pic>
        <p:nvPicPr>
          <p:cNvPr id="8" name="candy" descr="03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9110662"/>
            <a:ext cx="2667000" cy="2352675"/>
          </a:xfrm>
          <a:prstGeom prst="rect">
            <a:avLst/>
          </a:prstGeom>
        </p:spPr>
      </p:pic>
      <p:pic>
        <p:nvPicPr>
          <p:cNvPr id="9" name="COMMENT" descr="03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20000">
            <a:off x="-171450" y="1404938"/>
            <a:ext cx="10629900" cy="3476625"/>
          </a:xfrm>
          <a:prstGeom prst="rect">
            <a:avLst/>
          </a:prstGeom>
        </p:spPr>
      </p:pic>
      <p:sp>
        <p:nvSpPr>
          <p:cNvPr id="10" name="TEXT: [TREAT]"/>
          <p:cNvSpPr/>
          <p:nvPr/>
        </p:nvSpPr>
        <p:spPr>
          <a:xfrm rot="21480000">
            <a:off x="2628900" y="4352925"/>
            <a:ext cx="5029200" cy="1581150"/>
          </a:xfrm>
          <a:prstGeom prst="roundRect">
            <a:avLst>
              <a:gd name="adj" fmla="val 50000"/>
            </a:avLst>
          </a:prstGeom>
          <a:solidFill>
            <a:srgbClr val="C4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23875" rIns="523875" tIns="209550" bIns="209550"/>
          <a:lstStyle/>
          <a:p>
            <a:pPr algn="ctr">
              <a:lnSpc>
                <a:spcPts val="9150"/>
              </a:lnSpc>
            </a:pPr>
            <a:r>
              <a:rPr b="1" sz="7500">
                <a:solidFill>
                  <a:srgbClr val="161418"/>
                </a:solidFill>
                <a:latin typeface="Montserrat"/>
              </a:rPr>
              <a:t>[TREAT]</a:t>
            </a:r>
          </a:p>
        </p:txBody>
      </p:sp>
      <p:sp>
        <p:nvSpPr>
          <p:cNvPr id="11" name="TEXT: [for something sweet: 15% off]"/>
          <p:cNvSpPr/>
          <p:nvPr/>
        </p:nvSpPr>
        <p:spPr>
          <a:xfrm rot="120000">
            <a:off x="881062" y="6296025"/>
            <a:ext cx="8524875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4018" rIns="144018" tIns="61722" bIns="61722"/>
          <a:lstStyle/>
          <a:p>
            <a:pPr algn="ctr">
              <a:lnSpc>
                <a:spcPts val="4941"/>
              </a:lnSpc>
            </a:pPr>
            <a:r>
              <a:rPr b="1" sz="4050">
                <a:solidFill>
                  <a:srgbClr val="181716"/>
                </a:solidFill>
                <a:latin typeface="Montserrat"/>
              </a:rPr>
              <a:t>[for something sweet: 15% off]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