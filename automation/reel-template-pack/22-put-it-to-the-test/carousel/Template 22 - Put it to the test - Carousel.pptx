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0287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1. Hook. Swap in a photo of your product mid-test. Edit [ruin].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2. Second hook: Instagram often shows a carousel starting on slide 2, so this one works as a cover on its own. Swap in a photo of the setup (it shows inside the lens). Edit both [bracket]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3. The claim you are testing. Edit the 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4. Swap in a still from your one-take test. Edit the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5. Swap in a photo of the result (it shows inside the lens).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6. Swap in a photo of the result. Edit the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7. Swap in a photo of your product. Type your keyword. Caption to start from (CTA in the first two sentences, 3 hashtags): Comment [KEYWORD] and I will send you [the link]. [One line of real context: who it helps or how you use it.] #[tag] #[tag] #[tag]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3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PHOTO: The test (fills the page)" descr="0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4" name="REC" descr="0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2875" y="1143000"/>
            <a:ext cx="2190750" cy="762000"/>
          </a:xfrm>
          <a:prstGeom prst="rect">
            <a:avLst/>
          </a:prstGeom>
        </p:spPr>
      </p:pic>
      <p:sp>
        <p:nvSpPr>
          <p:cNvPr id="5" name="TEXT: I tried to"/>
          <p:cNvSpPr/>
          <p:nvPr/>
        </p:nvSpPr>
        <p:spPr>
          <a:xfrm rot="180000">
            <a:off x="1281112" y="2605088"/>
            <a:ext cx="3724275" cy="10763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08026" rIns="208026" tIns="89154" bIns="89154"/>
          <a:lstStyle/>
          <a:p>
            <a:pPr algn="ctr">
              <a:lnSpc>
                <a:spcPts val="7137"/>
              </a:lnSpc>
            </a:pPr>
            <a:r>
              <a:rPr b="1" sz="5850">
                <a:solidFill>
                  <a:srgbClr val="181716"/>
                </a:solidFill>
                <a:latin typeface="Montserrat"/>
              </a:rPr>
              <a:t>I tried to</a:t>
            </a:r>
          </a:p>
        </p:txBody>
      </p:sp>
      <p:sp>
        <p:nvSpPr>
          <p:cNvPr id="6" name="TEXT: [ruin] it"/>
          <p:cNvSpPr/>
          <p:nvPr/>
        </p:nvSpPr>
        <p:spPr>
          <a:xfrm rot="180000">
            <a:off x="1743075" y="3719512"/>
            <a:ext cx="6419850" cy="2085975"/>
          </a:xfrm>
          <a:prstGeom prst="rect">
            <a:avLst/>
          </a:prstGeom>
          <a:solidFill>
            <a:srgbClr val="345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00050" rIns="400050" tIns="171450" bIns="171450"/>
          <a:lstStyle/>
          <a:p>
            <a:pPr algn="ctr">
              <a:lnSpc>
                <a:spcPts val="13725"/>
              </a:lnSpc>
            </a:pPr>
            <a:r>
              <a:rPr b="1" sz="11250">
                <a:solidFill>
                  <a:srgbClr val="FFFFFF"/>
                </a:solidFill>
                <a:latin typeface="Montserrat"/>
              </a:rPr>
              <a:t>[ruin] it</a:t>
            </a:r>
          </a:p>
        </p:txBody>
      </p:sp>
      <p:sp>
        <p:nvSpPr>
          <p:cNvPr id="7" name="GUIDE (delete)"/>
          <p:cNvSpPr/>
          <p:nvPr/>
        </p:nvSpPr>
        <p:spPr>
          <a:xfrm>
            <a:off x="1352550" y="13063538"/>
            <a:ext cx="7581900" cy="352425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9342" rIns="69342" tIns="29718" bIns="29718"/>
          <a:lstStyle/>
          <a:p>
            <a:pPr algn="ctr">
              <a:lnSpc>
                <a:spcPts val="2379"/>
              </a:lnSpc>
            </a:pPr>
            <a:r>
              <a:rPr b="1" sz="1950">
                <a:solidFill>
                  <a:srgbClr val="FFFFFF"/>
                </a:solidFill>
                <a:latin typeface="Montserrat"/>
              </a:rPr>
              <a:t>Everything blue is a guide. Delete it before you download.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magnifier" descr="0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125" y="5672138"/>
            <a:ext cx="10953750" cy="6943725"/>
          </a:xfrm>
          <a:prstGeom prst="rect">
            <a:avLst/>
          </a:prstGeom>
        </p:spPr>
      </p:pic>
      <p:pic>
        <p:nvPicPr>
          <p:cNvPr id="4" name="PHOTO: The setup" descr="0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749" y="5927607"/>
            <a:ext cx="3762375" cy="3762375"/>
          </a:xfrm>
          <a:prstGeom prst="ellipse">
            <a:avLst/>
          </a:prstGeom>
        </p:spPr>
      </p:pic>
      <p:sp>
        <p:nvSpPr>
          <p:cNvPr id="5" name="TEXT: [does it really STAY DRY?]"/>
          <p:cNvSpPr/>
          <p:nvPr/>
        </p:nvSpPr>
        <p:spPr>
          <a:xfrm rot="120000">
            <a:off x="2657475" y="1042988"/>
            <a:ext cx="6496050" cy="2295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40030" rIns="240030" tIns="102870" bIns="102870"/>
          <a:lstStyle/>
          <a:p>
            <a:pPr algn="r">
              <a:lnSpc>
                <a:spcPts val="8234"/>
              </a:lnSpc>
            </a:pPr>
            <a:r>
              <a:rPr b="1" sz="6750">
                <a:solidFill>
                  <a:srgbClr val="181716"/>
                </a:solidFill>
                <a:latin typeface="Montserrat"/>
              </a:rPr>
              <a:t>[does it really</a:t>
            </a:r>
          </a:p>
          <a:p>
            <a:pPr algn="r">
              <a:lnSpc>
                <a:spcPts val="8234"/>
              </a:lnSpc>
            </a:pPr>
            <a:r>
              <a:rPr b="1" sz="6750">
                <a:solidFill>
                  <a:srgbClr val="181716"/>
                </a:solidFill>
                <a:latin typeface="Montserrat"/>
              </a:rPr>
              <a:t>STAY DRY?]</a:t>
            </a:r>
          </a:p>
        </p:txBody>
      </p:sp>
      <p:sp>
        <p:nvSpPr>
          <p:cNvPr id="6" name="TEXT: [watch this]"/>
          <p:cNvSpPr/>
          <p:nvPr/>
        </p:nvSpPr>
        <p:spPr>
          <a:xfrm rot="120000">
            <a:off x="752475" y="12239625"/>
            <a:ext cx="4019550" cy="8572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5354" rIns="165354" tIns="70866" bIns="70866"/>
          <a:lstStyle/>
          <a:p>
            <a:pPr algn="l">
              <a:lnSpc>
                <a:spcPts val="5673"/>
              </a:lnSpc>
            </a:pPr>
            <a:r>
              <a:rPr b="1" sz="4650">
                <a:solidFill>
                  <a:srgbClr val="181716"/>
                </a:solidFill>
                <a:latin typeface="Montserrat"/>
              </a:rPr>
              <a:t>[watch this]</a:t>
            </a:r>
          </a:p>
        </p:txBody>
      </p:sp>
      <p:pic>
        <p:nvPicPr>
          <p:cNvPr id="7" name="arrow" descr="00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4905375" y="12368212"/>
            <a:ext cx="1619250" cy="50482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let's test it" descr="0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20000">
            <a:off x="1128712" y="1919288"/>
            <a:ext cx="8029575" cy="1876425"/>
          </a:xfrm>
          <a:prstGeom prst="rect">
            <a:avLst/>
          </a:prstGeom>
        </p:spPr>
      </p:pic>
      <p:pic>
        <p:nvPicPr>
          <p:cNvPr id="4" name="sticky note" descr="0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360000">
            <a:off x="590550" y="4810125"/>
            <a:ext cx="4914900" cy="4857750"/>
          </a:xfrm>
          <a:prstGeom prst="rect">
            <a:avLst/>
          </a:prstGeom>
        </p:spPr>
      </p:pic>
      <p:sp>
        <p:nvSpPr>
          <p:cNvPr id="5" name="TEXT: claim: [stays dry]"/>
          <p:cNvSpPr/>
          <p:nvPr/>
        </p:nvSpPr>
        <p:spPr>
          <a:xfrm rot="360000">
            <a:off x="1425896" y="6733027"/>
            <a:ext cx="3200400" cy="1428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9352" rIns="149352" tIns="64008" bIns="64008"/>
          <a:lstStyle/>
          <a:p>
            <a:pPr algn="l">
              <a:lnSpc>
                <a:spcPts val="5123"/>
              </a:lnSpc>
            </a:pPr>
            <a:r>
              <a:rPr b="1" sz="4200">
                <a:solidFill>
                  <a:srgbClr val="181716"/>
                </a:solidFill>
                <a:latin typeface="Montserrat"/>
              </a:rPr>
              <a:t>claim:</a:t>
            </a:r>
          </a:p>
          <a:p>
            <a:pPr algn="l">
              <a:lnSpc>
                <a:spcPts val="5123"/>
              </a:lnSpc>
            </a:pPr>
            <a:r>
              <a:rPr b="1" sz="4200">
                <a:solidFill>
                  <a:srgbClr val="181716"/>
                </a:solidFill>
                <a:latin typeface="Montserrat"/>
              </a:rPr>
              <a:t>[stays dry]</a:t>
            </a:r>
          </a:p>
        </p:txBody>
      </p:sp>
      <p:pic>
        <p:nvPicPr>
          <p:cNvPr id="6" name="test tubes" descr="00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360000">
            <a:off x="4895850" y="7553325"/>
            <a:ext cx="5257800" cy="5467350"/>
          </a:xfrm>
          <a:prstGeom prst="rect">
            <a:avLst/>
          </a:prstGeom>
        </p:spPr>
      </p:pic>
      <p:pic>
        <p:nvPicPr>
          <p:cNvPr id="7" name="arrow" descr="00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200000">
            <a:off x="4095750" y="9215438"/>
            <a:ext cx="2095500" cy="138112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photo border" descr="0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80000">
            <a:off x="952500" y="2571750"/>
            <a:ext cx="8382000" cy="10477500"/>
          </a:xfrm>
          <a:prstGeom prst="rect">
            <a:avLst/>
          </a:prstGeom>
        </p:spPr>
      </p:pic>
      <p:pic>
        <p:nvPicPr>
          <p:cNvPr id="4" name="PHOTO: The test, one take" descr="0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480000">
            <a:off x="1524000" y="3143250"/>
            <a:ext cx="7239000" cy="9334500"/>
          </a:xfrm>
          <a:prstGeom prst="rect">
            <a:avLst/>
          </a:prstGeom>
        </p:spPr>
      </p:pic>
      <p:pic>
        <p:nvPicPr>
          <p:cNvPr id="5" name="REC" descr="00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480000">
            <a:off x="6760945" y="3236520"/>
            <a:ext cx="2190750" cy="762000"/>
          </a:xfrm>
          <a:prstGeom prst="rect">
            <a:avLst/>
          </a:prstGeom>
        </p:spPr>
      </p:pic>
      <p:sp>
        <p:nvSpPr>
          <p:cNvPr id="6" name="TEXT: [one take, no cuts]"/>
          <p:cNvSpPr/>
          <p:nvPr/>
        </p:nvSpPr>
        <p:spPr>
          <a:xfrm rot="180000">
            <a:off x="1652588" y="1500188"/>
            <a:ext cx="6981825" cy="10001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92024" rIns="192024" tIns="82296" bIns="82296"/>
          <a:lstStyle/>
          <a:p>
            <a:pPr algn="ctr">
              <a:lnSpc>
                <a:spcPts val="6588"/>
              </a:lnSpc>
            </a:pPr>
            <a:r>
              <a:rPr b="1" sz="5400">
                <a:solidFill>
                  <a:srgbClr val="181716"/>
                </a:solidFill>
                <a:latin typeface="Montserrat"/>
              </a:rPr>
              <a:t>[one take, no cuts]</a:t>
            </a:r>
          </a:p>
        </p:txBody>
      </p:sp>
      <p:sp>
        <p:nvSpPr>
          <p:cNvPr id="7" name="TEXT: watch closely"/>
          <p:cNvSpPr/>
          <p:nvPr/>
        </p:nvSpPr>
        <p:spPr>
          <a:xfrm rot="120000">
            <a:off x="747712" y="12592050"/>
            <a:ext cx="4791075" cy="914400"/>
          </a:xfrm>
          <a:prstGeom prst="rect">
            <a:avLst/>
          </a:prstGeom>
          <a:solidFill>
            <a:srgbClr val="BFD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76022" rIns="176022" tIns="75438" bIns="75438"/>
          <a:lstStyle/>
          <a:p>
            <a:pPr algn="ctr">
              <a:lnSpc>
                <a:spcPts val="6039"/>
              </a:lnSpc>
            </a:pPr>
            <a:r>
              <a:rPr b="1" sz="4950">
                <a:solidFill>
                  <a:srgbClr val="181716"/>
                </a:solidFill>
                <a:latin typeface="Montserrat"/>
              </a:rPr>
              <a:t>watch closely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burst" descr="0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750" y="-166688"/>
            <a:ext cx="5715000" cy="11001375"/>
          </a:xfrm>
          <a:prstGeom prst="rect">
            <a:avLst/>
          </a:prstGeom>
        </p:spPr>
      </p:pic>
      <p:pic>
        <p:nvPicPr>
          <p:cNvPr id="4" name="sticky note" descr="01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300000">
            <a:off x="876300" y="3095625"/>
            <a:ext cx="4533900" cy="4476750"/>
          </a:xfrm>
          <a:prstGeom prst="rect">
            <a:avLst/>
          </a:prstGeom>
        </p:spPr>
      </p:pic>
      <p:sp>
        <p:nvSpPr>
          <p:cNvPr id="5" name="TEXT: did it...?"/>
          <p:cNvSpPr/>
          <p:nvPr/>
        </p:nvSpPr>
        <p:spPr>
          <a:xfrm rot="300000">
            <a:off x="1839112" y="5128415"/>
            <a:ext cx="2571750" cy="8286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0020" rIns="160020" tIns="68580" bIns="68580"/>
          <a:lstStyle/>
          <a:p>
            <a:pPr algn="ctr">
              <a:lnSpc>
                <a:spcPts val="5490"/>
              </a:lnSpc>
            </a:pPr>
            <a:r>
              <a:rPr b="1" sz="4500">
                <a:solidFill>
                  <a:srgbClr val="181716"/>
                </a:solidFill>
                <a:latin typeface="Montserrat"/>
              </a:rPr>
              <a:t>did it...?</a:t>
            </a:r>
          </a:p>
        </p:txBody>
      </p:sp>
      <p:pic>
        <p:nvPicPr>
          <p:cNvPr id="6" name="magnifier" descr="01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600000">
            <a:off x="2667000" y="7872412"/>
            <a:ext cx="7620000" cy="4829175"/>
          </a:xfrm>
          <a:prstGeom prst="rect">
            <a:avLst/>
          </a:prstGeom>
        </p:spPr>
      </p:pic>
      <p:pic>
        <p:nvPicPr>
          <p:cNvPr id="7" name="PHOTO: The result" descr="01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11455" y="7680119"/>
            <a:ext cx="2600325" cy="2600325"/>
          </a:xfrm>
          <a:prstGeom prst="ellipse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PHOTO: The result (fills the page)" descr="0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4" name="PASSED stamp ink" descr="01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720000">
            <a:off x="866775" y="10044112"/>
            <a:ext cx="4552950" cy="1819275"/>
          </a:xfrm>
          <a:prstGeom prst="rect">
            <a:avLst/>
          </a:prstGeom>
        </p:spPr>
      </p:pic>
      <p:pic>
        <p:nvPicPr>
          <p:cNvPr id="5" name="rubber stamp" descr="01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000000">
            <a:off x="5724525" y="9048750"/>
            <a:ext cx="4171950" cy="5143500"/>
          </a:xfrm>
          <a:prstGeom prst="rect">
            <a:avLst/>
          </a:prstGeom>
        </p:spPr>
      </p:pic>
      <p:sp>
        <p:nvSpPr>
          <p:cNvPr id="6" name="TEXT: [IT STAYED DRY]"/>
          <p:cNvSpPr/>
          <p:nvPr/>
        </p:nvSpPr>
        <p:spPr>
          <a:xfrm rot="120000">
            <a:off x="1462088" y="2276475"/>
            <a:ext cx="7362825" cy="1162050"/>
          </a:xfrm>
          <a:prstGeom prst="rect">
            <a:avLst/>
          </a:prstGeom>
          <a:solidFill>
            <a:srgbClr val="F7E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4028" rIns="224028" tIns="96012" bIns="96012"/>
          <a:lstStyle/>
          <a:p>
            <a:pPr algn="ctr">
              <a:lnSpc>
                <a:spcPts val="7686"/>
              </a:lnSpc>
            </a:pPr>
            <a:r>
              <a:rPr b="1" sz="6300">
                <a:solidFill>
                  <a:srgbClr val="181716"/>
                </a:solidFill>
                <a:latin typeface="Montserrat"/>
              </a:rPr>
              <a:t>[IT STAYED DRY]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photo border" descr="0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80000">
            <a:off x="1905000" y="5143500"/>
            <a:ext cx="6477000" cy="8001000"/>
          </a:xfrm>
          <a:prstGeom prst="rect">
            <a:avLst/>
          </a:prstGeom>
        </p:spPr>
      </p:pic>
      <p:pic>
        <p:nvPicPr>
          <p:cNvPr id="4" name="PHOTO: Your product" descr="02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480000">
            <a:off x="2476500" y="5715000"/>
            <a:ext cx="5334000" cy="6858000"/>
          </a:xfrm>
          <a:prstGeom prst="rect">
            <a:avLst/>
          </a:prstGeom>
        </p:spPr>
      </p:pic>
      <p:pic>
        <p:nvPicPr>
          <p:cNvPr id="5" name="PASSED stamp ink" descr="02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840000">
            <a:off x="5643562" y="5895975"/>
            <a:ext cx="2428875" cy="1162050"/>
          </a:xfrm>
          <a:prstGeom prst="rect">
            <a:avLst/>
          </a:prstGeom>
        </p:spPr>
      </p:pic>
      <p:pic>
        <p:nvPicPr>
          <p:cNvPr id="6" name="test tubes" descr="02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360000">
            <a:off x="-219075" y="10377488"/>
            <a:ext cx="3676650" cy="3819525"/>
          </a:xfrm>
          <a:prstGeom prst="rect">
            <a:avLst/>
          </a:prstGeom>
        </p:spPr>
      </p:pic>
      <p:pic>
        <p:nvPicPr>
          <p:cNvPr id="7" name="Comment" descr="02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412" y="1243012"/>
            <a:ext cx="9020175" cy="2085975"/>
          </a:xfrm>
          <a:prstGeom prst="rect">
            <a:avLst/>
          </a:prstGeom>
        </p:spPr>
      </p:pic>
      <p:sp>
        <p:nvSpPr>
          <p:cNvPr id="8" name="TEXT: &quot;[KEYWORD]&quot;"/>
          <p:cNvSpPr/>
          <p:nvPr/>
        </p:nvSpPr>
        <p:spPr>
          <a:xfrm rot="21480000">
            <a:off x="2152650" y="3305175"/>
            <a:ext cx="5981700" cy="1200150"/>
          </a:xfrm>
          <a:prstGeom prst="roundRect">
            <a:avLst>
              <a:gd name="adj" fmla="val 50000"/>
            </a:avLst>
          </a:prstGeom>
          <a:solidFill>
            <a:srgbClr val="BFD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98145" rIns="398145" tIns="159258" bIns="159258"/>
          <a:lstStyle/>
          <a:p>
            <a:pPr algn="ctr">
              <a:lnSpc>
                <a:spcPts val="6953"/>
              </a:lnSpc>
            </a:pPr>
            <a:r>
              <a:rPr b="1" sz="5700">
                <a:solidFill>
                  <a:srgbClr val="181716"/>
                </a:solidFill>
                <a:latin typeface="Montserrat"/>
              </a:rPr>
              <a:t>"[KEYWORD]"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